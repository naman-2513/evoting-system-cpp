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OPEN SOURCE DEVELOPMENT PROJECT-BASED LEARNING</a:t>
            </a:r>
          </a:p>
          <a:p>
            <a:pPr>
              <a:spcAft>
                <a:spcPts val="1000"/>
              </a:spcAft>
              <a:defRPr sz="3200" b="1">
                <a:solidFill>
                  <a:srgbClr val="F8FAFC"/>
                </a:solidFill>
              </a:defRPr>
            </a:pPr>
            <a:r>
              <a:t>E-Voting System (C++): An Open Source Case Study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Practicing Git Collaboration, Branching Strategy, Code Review &amp; Open Source Governance in a 5-Person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10362895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8FAFC"/>
                </a:solidFill>
              </a:rPr>
              <a:t>GitHub Repository: </a:t>
            </a:r>
            <a:r>
              <a:rPr sz="1300">
                <a:solidFill>
                  <a:srgbClr val="38BDF8"/>
                </a:solidFill>
              </a:rPr>
              <a:t>https://github.com/Naman-2513/evoting-system-cpp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06240"/>
            <a:ext cx="20116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0B981"/>
                </a:solidFill>
              </a:defRPr>
            </a:pPr>
            <a:r>
              <a:t>Naman Rana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Project Structure &amp; Voter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4206240"/>
            <a:ext cx="20116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0B981"/>
                </a:solidFill>
              </a:defRPr>
            </a:pPr>
            <a:r>
              <a:t>Mudit Chaudhary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Admin Panel &amp; XOR Encryption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4206240"/>
            <a:ext cx="20116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0B981"/>
                </a:solidFill>
              </a:defRPr>
            </a:pPr>
            <a:r>
              <a:t>Ritvik Garg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Admin Panel &amp;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4206240"/>
            <a:ext cx="20116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0B981"/>
                </a:solidFill>
              </a:defRPr>
            </a:pPr>
            <a:r>
              <a:t>Veer Saksham Singh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Documentation Lead &amp; Changelog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4206240"/>
            <a:ext cx="20116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10B981"/>
                </a:solidFill>
              </a:defRPr>
            </a:pPr>
            <a:r>
              <a:t>Harshit Agarwal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Documentation &amp;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What We Built — System Architecture &amp;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Core Software Specifications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Core Functionality: </a:t>
            </a:r>
            <a:r>
              <a:rPr sz="1200">
                <a:solidFill>
                  <a:srgbClr val="94A3B8"/>
                </a:solidFill>
                <a:latin typeface="Segoe UI"/>
              </a:rPr>
              <a:t>Console-based C++ E-Voting system enabling voter registration, password login, encrypted ballot casting, and real-time admin tallying.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Persistence Layer: </a:t>
            </a:r>
            <a:r>
              <a:rPr sz="1200">
                <a:solidFill>
                  <a:srgbClr val="94A3B8"/>
                </a:solidFill>
                <a:latin typeface="Segoe UI"/>
              </a:rPr>
              <a:t>Flat-file data storage (`voters.txt`, `candidates.txt`, `votes.txt`) avoiding heavyweight database dependencies for lightweight distribution.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Security Mechanism: </a:t>
            </a:r>
            <a:r>
              <a:rPr sz="1200">
                <a:solidFill>
                  <a:srgbClr val="94A3B8"/>
                </a:solidFill>
                <a:latin typeface="Segoe UI"/>
              </a:rPr>
              <a:t>Symmetric XOR encryption layer for vote anonymity and anti-tampering during storage.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PBL Objective: </a:t>
            </a:r>
            <a:r>
              <a:rPr sz="1200">
                <a:solidFill>
                  <a:srgbClr val="94A3B8"/>
                </a:solidFill>
                <a:latin typeface="Segoe UI"/>
              </a:rPr>
              <a:t>The C++ application serves as the vehicle — the primary focus is establishing open-source software (OSS) development practices.</a:t>
            </a:r>
          </a:p>
        </p:txBody>
      </p:sp>
      <p:pic>
        <p:nvPicPr>
          <p:cNvPr id="12" name="Picture 11" descr="image_2026-06-30_1943449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29260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4480560"/>
            <a:ext cx="521208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200">
                <a:solidFill>
                  <a:srgbClr val="10B981"/>
                </a:solidFill>
              </a:defRPr>
            </a:pPr>
            <a:r>
              <a:t>Console CLI UI Demonstration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Featuring ANSI color formatting, animated loading spinners, structured input validation, and password-protected admin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Project Objectives — OSS Development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Collaborative Workflow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Git-First Development: </a:t>
            </a:r>
            <a:r>
              <a:rPr sz="1200">
                <a:solidFill>
                  <a:srgbClr val="94A3B8"/>
                </a:solidFill>
                <a:latin typeface="Segoe UI"/>
              </a:rPr>
              <a:t>Shift from traditional file-sharing or single-developer habits to a disciplined, version-controlled Git workflow.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Feature-Branch Isolation: </a:t>
            </a:r>
            <a:r>
              <a:rPr sz="1200">
                <a:solidFill>
                  <a:srgbClr val="94A3B8"/>
                </a:solidFill>
                <a:latin typeface="Segoe UI"/>
              </a:rPr>
              <a:t>Ensure every team member develops inside dedicated topic branches to avoid breaking `main`.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Pull Request Enforcement: </a:t>
            </a:r>
            <a:r>
              <a:rPr sz="1200">
                <a:solidFill>
                  <a:srgbClr val="94A3B8"/>
                </a:solidFill>
                <a:latin typeface="Segoe UI"/>
              </a:rPr>
              <a:t>Mandate peer code reviews for all merges to ensure quality, visibility, and shared code ownership.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Task &amp; Issue Visibility: </a:t>
            </a:r>
            <a:r>
              <a:rPr sz="1200">
                <a:solidFill>
                  <a:srgbClr val="94A3B8"/>
                </a:solidFill>
                <a:latin typeface="Segoe UI"/>
              </a:rPr>
              <a:t>Use GitHub Issues &amp; Discussions for transparent task distribution rather than informal chat apps.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Quality &amp; Governance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Documentation as First-Class Code: </a:t>
            </a:r>
            <a:r>
              <a:rPr sz="1200">
                <a:solidFill>
                  <a:srgbClr val="94A3B8"/>
                </a:solidFill>
                <a:latin typeface="Segoe UI"/>
              </a:rPr>
              <a:t>Maintain complete standard documentation (`README`, `ARCHITECTURE`, `CONTRIBUTING`, `CHANGELOG`, `CONTRIBUTORS`) alongside source code.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Equitable Contribution: </a:t>
            </a:r>
            <a:r>
              <a:rPr sz="1200">
                <a:solidFill>
                  <a:srgbClr val="94A3B8"/>
                </a:solidFill>
                <a:latin typeface="Segoe UI"/>
              </a:rPr>
              <a:t>Trace individual labor cleanly via commit history and dedicated branches.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Public Release Management: </a:t>
            </a:r>
            <a:r>
              <a:rPr sz="1200">
                <a:solidFill>
                  <a:srgbClr val="94A3B8"/>
                </a:solidFill>
                <a:latin typeface="Segoe UI"/>
              </a:rPr>
              <a:t>Manage formal releases (v1.0) with clean semantic tagging and reproducible build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Repository Structure &amp; Module Layout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754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Repository Layout (`evoting-system-cpp`)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4297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Header/Source Separation: </a:t>
            </a:r>
            <a:r>
              <a:rPr sz="1200">
                <a:solidFill>
                  <a:srgbClr val="94A3B8"/>
                </a:solidFill>
                <a:latin typeface="Segoe UI"/>
              </a:rPr>
              <a:t>`include/` for headers (`.h`), `src/` for implementations (`.cpp`) adhering to standard C++ library layout.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Main Entry Point: </a:t>
            </a:r>
            <a:r>
              <a:rPr sz="1200">
                <a:solidFill>
                  <a:srgbClr val="94A3B8"/>
                </a:solidFill>
                <a:latin typeface="Segoe UI"/>
              </a:rPr>
              <a:t>`main.cpp` handles menu routing and delegates logic to modular components.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Flat File Persistence: </a:t>
            </a:r>
            <a:r>
              <a:rPr sz="1200">
                <a:solidFill>
                  <a:srgbClr val="94A3B8"/>
                </a:solidFill>
                <a:latin typeface="Segoe UI"/>
              </a:rPr>
              <a:t>`voters.txt`, `candidates.txt`, `votes.txt` store state cleanly without external binary DBs.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Root Governance Files: </a:t>
            </a:r>
            <a:r>
              <a:rPr sz="1200">
                <a:solidFill>
                  <a:srgbClr val="94A3B8"/>
                </a:solidFill>
                <a:latin typeface="Segoe UI"/>
              </a:rPr>
              <a:t>`README.md`, `ARCHITECTURE.md`, `CONTRIBUTING.md`, `CHANGELOG.md`, `CONTRIBUTORS.md`, `LICENSE`.</a:t>
            </a:r>
          </a:p>
        </p:txBody>
      </p:sp>
      <p:pic>
        <p:nvPicPr>
          <p:cNvPr id="12" name="Picture 11" descr="architectur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56692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Git Workflow Lifecycle — From Issue to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1. Issue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• Task created on GitHub Issues &amp; assigned to team member.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554480"/>
            <a:ext cx="73152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2. Branch 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• Member branches off latest `main` (`git checkout -b feature/name`).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37160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73152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3. Local Commit &amp;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920240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• Granular commits written locally with clear messages.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8404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4. Pull Request Opened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06240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• PR opened against `main` with detailed description.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65760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38404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5. Peer Code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06240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• At least 1 teammate inspects diffs and approves change.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365760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8404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6. Merge &amp; Tagging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4206240"/>
            <a:ext cx="29260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• PR merged into `main`; tagged as `v1.0` at milestone completion.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Branching Strategy — Protecting Main Source of Truth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3891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Branching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Single Source of Truth: </a:t>
            </a:r>
            <a:r>
              <a:rPr sz="1200">
                <a:solidFill>
                  <a:srgbClr val="94A3B8"/>
                </a:solidFill>
                <a:latin typeface="Segoe UI"/>
              </a:rPr>
              <a:t>`main` branch is always clean, compiled, and demo-ready at all times.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No Direct Commits: </a:t>
            </a:r>
            <a:r>
              <a:rPr sz="1200">
                <a:solidFill>
                  <a:srgbClr val="94A3B8"/>
                </a:solidFill>
                <a:latin typeface="Segoe UI"/>
              </a:rPr>
              <a:t>Direct pushes to `main` prohibited; all updates flow through verified Pull Requests.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Granular Topic Branches: </a:t>
            </a:r>
            <a:r>
              <a:rPr sz="1200">
                <a:solidFill>
                  <a:srgbClr val="94A3B8"/>
                </a:solidFill>
                <a:latin typeface="Segoe UI"/>
              </a:rPr>
              <a:t>Branches named by scope (e.g. `feature/voter-module`, `feature/admin-panel`, `docs/readme`).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Divergence Prevention: </a:t>
            </a:r>
            <a:r>
              <a:rPr sz="1200">
                <a:solidFill>
                  <a:srgbClr val="94A3B8"/>
                </a:solidFill>
                <a:latin typeface="Segoe UI"/>
              </a:rPr>
              <a:t>Frequent rebasing/merging of `main` into topic branches prevented conflict lockups.</a:t>
            </a:r>
          </a:p>
        </p:txBody>
      </p:sp>
      <p:pic>
        <p:nvPicPr>
          <p:cNvPr id="12" name="Picture 11" descr="git_branchin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Pull Requests &amp; Code Review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Code Review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Peer Verification Gate: </a:t>
            </a:r>
            <a:r>
              <a:rPr sz="1200">
                <a:solidFill>
                  <a:srgbClr val="94A3B8"/>
                </a:solidFill>
                <a:latin typeface="Segoe UI"/>
              </a:rPr>
              <a:t>Every PR required approval from at least one non-author team member before merging.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Knowledge Sharing: </a:t>
            </a:r>
            <a:r>
              <a:rPr sz="1200">
                <a:solidFill>
                  <a:srgbClr val="94A3B8"/>
                </a:solidFill>
                <a:latin typeface="Segoe UI"/>
              </a:rPr>
              <a:t>Reviews ensured every student understood code outside their assigned module.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Bug Prevention: </a:t>
            </a:r>
            <a:r>
              <a:rPr sz="1200">
                <a:solidFill>
                  <a:srgbClr val="94A3B8"/>
                </a:solidFill>
                <a:latin typeface="Segoe UI"/>
              </a:rPr>
              <a:t>Caught space-delimiter parsing bugs and missing include paths before reaching `main`.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Traceable History: </a:t>
            </a:r>
            <a:r>
              <a:rPr sz="1200">
                <a:solidFill>
                  <a:srgbClr val="94A3B8"/>
                </a:solidFill>
                <a:latin typeface="Segoe UI"/>
              </a:rPr>
              <a:t>GitHub PR conversations provided a complete audit trail of design discussions.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73152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Review Checklist Applied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Build Verification: </a:t>
            </a:r>
            <a:r>
              <a:rPr sz="1200">
                <a:solidFill>
                  <a:srgbClr val="94A3B8"/>
                </a:solidFill>
                <a:latin typeface="Segoe UI"/>
              </a:rPr>
              <a:t>Does the code compile cleanly using `g++ -std=c++17` without compiler warnings?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Modular Boundaries: </a:t>
            </a:r>
            <a:r>
              <a:rPr sz="1200">
                <a:solidFill>
                  <a:srgbClr val="94A3B8"/>
                </a:solidFill>
                <a:latin typeface="Segoe UI"/>
              </a:rPr>
              <a:t>Are function declarations isolated to header files and implementations in `.cpp`?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File Storage Safety: </a:t>
            </a:r>
            <a:r>
              <a:rPr sz="1200">
                <a:solidFill>
                  <a:srgbClr val="94A3B8"/>
                </a:solidFill>
                <a:latin typeface="Segoe UI"/>
              </a:rPr>
              <a:t>Does the change respect space-encoding (`encodeName`) in text persistence files?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Documentation Sync: </a:t>
            </a:r>
            <a:r>
              <a:rPr sz="1200">
                <a:solidFill>
                  <a:srgbClr val="94A3B8"/>
                </a:solidFill>
                <a:latin typeface="Segoe UI"/>
              </a:rPr>
              <a:t>Are API changes updated in `ARCHITECTURE.md` or `README.md`?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Task Tracking &amp; Release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GitHub Governance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GitHub Issues: </a:t>
            </a:r>
            <a:r>
              <a:rPr sz="1200">
                <a:solidFill>
                  <a:srgbClr val="94A3B8"/>
                </a:solidFill>
                <a:latin typeface="Segoe UI"/>
              </a:rPr>
              <a:t>Used to track bug reports (e.g. voter name parsing bug), feature requests, and refactoring items.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GitHub Discussions: </a:t>
            </a:r>
            <a:r>
              <a:rPr sz="1200">
                <a:solidFill>
                  <a:srgbClr val="94A3B8"/>
                </a:solidFill>
                <a:latin typeface="Segoe UI"/>
              </a:rPr>
              <a:t>Platform for async architectural consensus (XOR encryption vs flat-file schema).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CHANGELOG.md: </a:t>
            </a:r>
            <a:r>
              <a:rPr sz="1200">
                <a:solidFill>
                  <a:srgbClr val="94A3B8"/>
                </a:solidFill>
                <a:latin typeface="Segoe UI"/>
              </a:rPr>
              <a:t>Maintained chronologically to record notable updates, fixes, and release milestones.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Release Tag v1.0: </a:t>
            </a:r>
            <a:r>
              <a:rPr sz="1200">
                <a:solidFill>
                  <a:srgbClr val="94A3B8"/>
                </a:solidFill>
                <a:latin typeface="Segoe UI"/>
              </a:rPr>
              <a:t>Formal release tagged on June 30, 2026, marking complete feature set and stable build.</a:t>
            </a:r>
          </a:p>
        </p:txBody>
      </p:sp>
      <p:pic>
        <p:nvPicPr>
          <p:cNvPr id="12" name="Picture 11" descr="image_2026-06-30_1959411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Documentation as a First-Class Deliverable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46634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• Project overview, feature breakdown, build/run commands for Windows &amp; Linux, tech stack.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ARCHITECTURE.md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20240"/>
            <a:ext cx="46634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• Detailed system diagrams, data flow specifications, module descriptions, and ADR design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404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94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CONTRIBUTING.md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46634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• Step-by-step developer guide: branching conventions, commit styling, PR review process.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65760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84048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794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CONTRIBUTORS.md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06240"/>
            <a:ext cx="46634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• Explicit labor distribution matrix detailing specific feature ownership for every team member.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43600"/>
            <a:ext cx="105156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61264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CHANGELOG.md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492240"/>
            <a:ext cx="10058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• Release history documenting incremental improvements from initial setup to v1.0 release.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Team Contribution Matrix &amp; Labor Division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4864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Individual Feature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Naman Rana: </a:t>
            </a:r>
            <a:r>
              <a:rPr sz="1200">
                <a:solidFill>
                  <a:srgbClr val="94A3B8"/>
                </a:solidFill>
                <a:latin typeface="Segoe UI"/>
              </a:rPr>
              <a:t>Project structure (`src/`, `include/`), `.gitignore`, `LICENSE`, `voter.cpp/h` module.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Mudit Chaudhary: </a:t>
            </a:r>
            <a:r>
              <a:rPr sz="1200">
                <a:solidFill>
                  <a:srgbClr val="94A3B8"/>
                </a:solidFill>
                <a:latin typeface="Segoe UI"/>
              </a:rPr>
              <a:t>Admin panel (`admin.cpp`), XOR encryption (`encryption.cpp`), `ARCHITECTURE.md` design.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Ritvik Garg: </a:t>
            </a:r>
            <a:r>
              <a:rPr sz="1200">
                <a:solidFill>
                  <a:srgbClr val="94A3B8"/>
                </a:solidFill>
                <a:latin typeface="Segoe UI"/>
              </a:rPr>
              <a:t>Admin panel results tallying, ballot security, vote validation logic.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Veer Saksham Singh: </a:t>
            </a:r>
            <a:r>
              <a:rPr sz="1200">
                <a:solidFill>
                  <a:srgbClr val="94A3B8"/>
                </a:solidFill>
                <a:latin typeface="Segoe UI"/>
              </a:rPr>
              <a:t>Documentation lead (`README.md`, `CONTRIBUTING.md`, `CHANGELOG.md`).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Harshit Agarwal: </a:t>
            </a:r>
            <a:r>
              <a:rPr sz="1200">
                <a:solidFill>
                  <a:srgbClr val="94A3B8"/>
                </a:solidFill>
                <a:latin typeface="Segoe UI"/>
              </a:rPr>
              <a:t>Documentation co-lead, system overview diagrams, repository metadata maintenance.</a:t>
            </a:r>
          </a:p>
        </p:txBody>
      </p:sp>
      <p:pic>
        <p:nvPicPr>
          <p:cNvPr id="12" name="Picture 11" descr="contribu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Collaboration &amp; Technical Challenges Resolved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Git &amp; Merge Order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Branch Drift Prevention: </a:t>
            </a:r>
            <a:r>
              <a:rPr sz="1200">
                <a:solidFill>
                  <a:srgbClr val="94A3B8"/>
                </a:solidFill>
                <a:latin typeface="Segoe UI"/>
              </a:rPr>
              <a:t>Challenge: 5 parallel branches drifting from `main`. Solution: Enforced frequent PR merges and rebasing.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Review Turnaround: </a:t>
            </a:r>
            <a:r>
              <a:rPr sz="1200">
                <a:solidFill>
                  <a:srgbClr val="94A3B8"/>
                </a:solidFill>
                <a:latin typeface="Segoe UI"/>
              </a:rPr>
              <a:t>Challenge: Review bottlenecks delaying urgent merges. Solution: Assigned secondary reviewers for every module.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Platform Differences: </a:t>
            </a:r>
            <a:r>
              <a:rPr sz="1200">
                <a:solidFill>
                  <a:srgbClr val="94A3B8"/>
                </a:solidFill>
                <a:latin typeface="Segoe UI"/>
              </a:rPr>
              <a:t>Challenge: PowerShell wildcard expansion issues on Windows. Solution: Configured `tasks.json` and documented Git Bash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Flat-File Persistence Parsing 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Multi-word Name Collision: </a:t>
            </a:r>
            <a:r>
              <a:rPr sz="1200">
                <a:solidFill>
                  <a:srgbClr val="94A3B8"/>
                </a:solidFill>
                <a:latin typeface="Segoe UI"/>
              </a:rPr>
              <a:t>Issue: `cin &gt;&gt; name` broke multi-word names ('John Smith') when reading space-delimited text files.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Data Corruption: </a:t>
            </a:r>
            <a:r>
              <a:rPr sz="1200">
                <a:solidFill>
                  <a:srgbClr val="94A3B8"/>
                </a:solidFill>
                <a:latin typeface="Segoe UI"/>
              </a:rPr>
              <a:t>Impact: Spaces shifted password and boolean fields, causing voter lookup failures.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Architectural Fix: </a:t>
            </a:r>
            <a:r>
              <a:rPr sz="1200">
                <a:solidFill>
                  <a:srgbClr val="94A3B8"/>
                </a:solidFill>
                <a:latin typeface="Segoe UI"/>
              </a:rPr>
              <a:t>Implemented `encodeName()` (space -&gt; `_`) on file write and `decodeName()` (`_` -&gt; space) on display, keeping storage parsed safely.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Governance &amp; Best Practices Adopted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Open Source Governance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Single Source of Truth: </a:t>
            </a:r>
            <a:r>
              <a:rPr sz="1200">
                <a:solidFill>
                  <a:srgbClr val="94A3B8"/>
                </a:solidFill>
                <a:latin typeface="Segoe UI"/>
              </a:rPr>
              <a:t>`main` branch represents production state; no unstable code ever merged without approval.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Architectural Decision Records: </a:t>
            </a:r>
            <a:r>
              <a:rPr sz="1200">
                <a:solidFill>
                  <a:srgbClr val="94A3B8"/>
                </a:solidFill>
                <a:latin typeface="Segoe UI"/>
              </a:rPr>
              <a:t>Design choices (flat file vs SQL database, XOR obfuscation) documented explicitly in `ARCHITECTURE.md`.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Standard Licensing: </a:t>
            </a:r>
            <a:r>
              <a:rPr sz="1200">
                <a:solidFill>
                  <a:srgbClr val="94A3B8"/>
                </a:solidFill>
                <a:latin typeface="Segoe UI"/>
              </a:rPr>
              <a:t>Included MIT License enabling open educational reuse and code transparency.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Process Discipline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Traceability: </a:t>
            </a:r>
            <a:r>
              <a:rPr sz="1200">
                <a:solidFill>
                  <a:srgbClr val="94A3B8"/>
                </a:solidFill>
                <a:latin typeface="Segoe UI"/>
              </a:rPr>
              <a:t>100% of codebase changes linked to specific Git commits and Pull Requests.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Reproducible Build: </a:t>
            </a:r>
            <a:r>
              <a:rPr sz="1200">
                <a:solidFill>
                  <a:srgbClr val="94A3B8"/>
                </a:solidFill>
                <a:latin typeface="Segoe UI"/>
              </a:rPr>
              <a:t>Single-command build instructions tested on GCC/MinGW platforms.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Zero Obsolete Artifacts: </a:t>
            </a:r>
            <a:r>
              <a:rPr sz="1200">
                <a:solidFill>
                  <a:srgbClr val="94A3B8"/>
                </a:solidFill>
                <a:latin typeface="Segoe UI"/>
              </a:rPr>
              <a:t>Clean `.gitignore` configured to exclude binary executables (`evoting.exe`) and object files.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Key Takeaways &amp; Educational Learnings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Technical &amp; Process Mastery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Real-World Git Experience: </a:t>
            </a:r>
            <a:r>
              <a:rPr sz="1200">
                <a:solidFill>
                  <a:srgbClr val="94A3B8"/>
                </a:solidFill>
                <a:latin typeface="Segoe UI"/>
              </a:rPr>
              <a:t>Transitioned from basic individual Git commands to industrial team collaboration workflows.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Peer Code Review Mindset: </a:t>
            </a:r>
            <a:r>
              <a:rPr sz="1200">
                <a:solidFill>
                  <a:srgbClr val="94A3B8"/>
                </a:solidFill>
                <a:latin typeface="Segoe UI"/>
              </a:rPr>
              <a:t>Learned to write clean, self-documenting code built for peer inspection and review.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Modular Software Design: </a:t>
            </a:r>
            <a:r>
              <a:rPr sz="1200">
                <a:solidFill>
                  <a:srgbClr val="94A3B8"/>
                </a:solidFill>
                <a:latin typeface="Segoe UI"/>
              </a:rPr>
              <a:t>Understood header/implementation separation in C++ for large-scale maintainability.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Soft Skills &amp; Team Dynamics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Asynchronous Communication: </a:t>
            </a:r>
            <a:r>
              <a:rPr sz="1200">
                <a:solidFill>
                  <a:srgbClr val="94A3B8"/>
                </a:solidFill>
                <a:latin typeface="Segoe UI"/>
              </a:rPr>
              <a:t>Effective collaboration via GitHub PR comments and issue descriptions.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Conflict Resolution: </a:t>
            </a:r>
            <a:r>
              <a:rPr sz="1200">
                <a:solidFill>
                  <a:srgbClr val="94A3B8"/>
                </a:solidFill>
                <a:latin typeface="Segoe UI"/>
              </a:rPr>
              <a:t>Resolving merge conflicts systematically without losing member contributions.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Documentation Hygiene: </a:t>
            </a:r>
            <a:r>
              <a:rPr sz="1200">
                <a:solidFill>
                  <a:srgbClr val="94A3B8"/>
                </a:solidFill>
                <a:latin typeface="Segoe UI"/>
              </a:rPr>
              <a:t>Appreciating that comprehensive documentation is vital for software longevity.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Future Scope — Engineering &amp; Process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CI/CD &amp; Automation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GitHub Actions Integration: </a:t>
            </a:r>
            <a:r>
              <a:rPr sz="1200">
                <a:solidFill>
                  <a:srgbClr val="94A3B8"/>
                </a:solidFill>
                <a:latin typeface="Segoe UI"/>
              </a:rPr>
              <a:t>Automate compilation checking on every PR across Linux and Windows runners.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Automated Testing Framework: </a:t>
            </a:r>
            <a:r>
              <a:rPr sz="1200">
                <a:solidFill>
                  <a:srgbClr val="94A3B8"/>
                </a:solidFill>
                <a:latin typeface="Segoe UI"/>
              </a:rPr>
              <a:t>Integrate GoogleTest (gtest) to validate voter registration and vote tallying automatically.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Segoe UI"/>
              </a:rPr>
              <a:t>• Static Analysis Checks: </a:t>
            </a:r>
            <a:r>
              <a:rPr sz="1200">
                <a:solidFill>
                  <a:srgbClr val="94A3B8"/>
                </a:solidFill>
                <a:latin typeface="Segoe UI"/>
              </a:rPr>
              <a:t>Incorporate `clang-tidy` and linter checks during automated PR builds.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73152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Software Feature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Cryptographic Upgrade: </a:t>
            </a:r>
            <a:r>
              <a:rPr sz="1200">
                <a:solidFill>
                  <a:srgbClr val="94A3B8"/>
                </a:solidFill>
                <a:latin typeface="Segoe UI"/>
              </a:rPr>
              <a:t>Replace simple XOR cipher with AES-256 / RSA public-key encryption for cryptographic vote secrecy.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Relational Database: </a:t>
            </a:r>
            <a:r>
              <a:rPr sz="1200">
                <a:solidFill>
                  <a:srgbClr val="94A3B8"/>
                </a:solidFill>
                <a:latin typeface="Segoe UI"/>
              </a:rPr>
              <a:t>Migrate flat text files to SQLite/PostgreSQL for ACID compliance and multi-threaded safety.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818CF8"/>
                </a:solidFill>
                <a:latin typeface="Segoe UI"/>
              </a:rPr>
              <a:t>• GUI / Web Interface: </a:t>
            </a:r>
            <a:r>
              <a:rPr sz="1200">
                <a:solidFill>
                  <a:srgbClr val="94A3B8"/>
                </a:solidFill>
                <a:latin typeface="Segoe UI"/>
              </a:rPr>
              <a:t>Transition CLI to a modern Web/React interface while keeping C++ backend logic intact.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OPEN SOURCE DEVELOPMENT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Conclusion &amp; Project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E-Voting System C++  |  GitHub: github.com/Naman-2513/evoting-system-cpp  |  PBL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Summary of Achievements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102714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Successful Delivery: </a:t>
            </a:r>
            <a:r>
              <a:rPr sz="1200">
                <a:solidFill>
                  <a:srgbClr val="94A3B8"/>
                </a:solidFill>
                <a:latin typeface="Segoe UI"/>
              </a:rPr>
              <a:t>Delivered a fully functional, console-based C++ E-Voting System with persistent file storage and vote encryption.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Open Source Rigor: </a:t>
            </a:r>
            <a:r>
              <a:rPr sz="1200">
                <a:solidFill>
                  <a:srgbClr val="94A3B8"/>
                </a:solidFill>
                <a:latin typeface="Segoe UI"/>
              </a:rPr>
              <a:t>Demonstrated exemplary GitHub practices: branch isolation, mandatory peer PR reviews, changelogs, and standard docs.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Segoe UI"/>
              </a:rPr>
              <a:t>• Team Synergy: </a:t>
            </a:r>
            <a:r>
              <a:rPr sz="1200">
                <a:solidFill>
                  <a:srgbClr val="94A3B8"/>
                </a:solidFill>
                <a:latin typeface="Segoe UI"/>
              </a:rPr>
              <a:t>Equitable, transparent labor distribution across all 5 team members with 100% traceable Git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2000">
                <a:solidFill>
                  <a:srgbClr val="F8FAFC"/>
                </a:solidFill>
              </a:defRPr>
            </a:pPr>
            <a:r>
              <a:t>Thank You! Questions &amp; Discussion</a:t>
            </a:r>
          </a:p>
          <a:p>
            <a:pPr algn="ctr"/>
            <a:r>
              <a:rPr sz="1300">
                <a:solidFill>
                  <a:srgbClr val="94A3B8"/>
                </a:solidFill>
              </a:rPr>
              <a:t>Explore the complete source code, documentation &amp; commit history:
</a:t>
            </a:r>
            <a:r>
              <a:rPr b="1" sz="1600">
                <a:solidFill>
                  <a:srgbClr val="38BDF8"/>
                </a:solidFill>
              </a:rPr>
              <a:t>https://github.com/Naman-2513/evoting-system-cpp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